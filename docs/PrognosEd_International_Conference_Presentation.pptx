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 Introduce PrognosEd as an AI platform for early academic risk detection, personalized interventions, and faculty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short. It orients the audience for a 15–20 minute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timing: earlier signals enable lower-cost, higher-impact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each objective as an engineering and research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clearly from problem to one end-to-end system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production-structured choices beyond research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4-week constraint as methodological honesty for real-world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both accuracy and AUC; mention CV to avoid single-split optimism.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Model 3 ranks actionable skill targets, not only risk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clustering as exploratory analytics for leadership, not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RAG as the bridge between model outputs and faculty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AI insights are usable across governance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a faculty morning workflow: scan KPIs → open at-risk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student story end-to-end (high late work + low GPA → actions).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Model 2 headline metrics, then explain early-warning honesty for Model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for evaluators mapping against the original project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audiences that the prototype is deployment-aware.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builds credibility with international academic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value loop: technical novelty + institutional usefulness.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collaboration: data partnerships, pilots, and joint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contribution in one sentence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acknowledgments concise and respectful.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concise answers on datasets, fairness, RAG limits, and pilot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B6E4F"/>
                </a:solidFill>
                <a:latin typeface="Calibri"/>
              </a:rPr>
              <a:t>PrognosEd</a:t>
            </a:r>
          </a:p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101828"/>
                </a:solidFill>
                <a:latin typeface="Calibri"/>
              </a:rPr>
              <a:t>AI-Powered Early-Warning Student Success Platform</a:t>
            </a:r>
          </a:p>
          <a:p>
            <a:pPr algn="ctr">
              <a:spcBef>
                <a:spcPts val="1600"/>
              </a:spcBef>
            </a:pPr>
            <a:r>
              <a:rPr sz="1500" b="0">
                <a:solidFill>
                  <a:srgbClr val="475467"/>
                </a:solidFill>
                <a:latin typeface="Calibri"/>
              </a:rPr>
              <a:t>Predictive Analytics  ·  Intervention Intelligence  ·  Retrieval-Augmented Advising</a:t>
            </a:r>
          </a:p>
          <a:p>
            <a:pPr algn="ctr">
              <a:spcBef>
                <a:spcPts val="2800"/>
              </a:spcBef>
            </a:pPr>
            <a:r>
              <a:rPr sz="1600" b="1">
                <a:solidFill>
                  <a:srgbClr val="101828"/>
                </a:solidFill>
                <a:latin typeface="Calibri"/>
              </a:rPr>
              <a:t>International Conference Presentation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475467"/>
                </a:solidFill>
                <a:latin typeface="Calibri"/>
              </a:rPr>
              <a:t>[Author Name]  ·  [Affiliation]  ·  [Conference /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1. Problem context and research motivation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2. Objectives, proposed solution, and system architecture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3. AI/ML methodology: four specialized predictive models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4. Key innovation — retrieval-augmented (RAG) advising chat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5. Role-based decision support and live prototype demonstration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6. Experimental results, impact, limitations, and future work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7. Conclusions and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The Challenge: Delayed Intervention in Higher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Universities often detect academic distress after grades have already declined.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Faculty workload limits continuous monitoring across large course cohorts.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Attendance, LMS activity, and assessment signals remain fragmented and underused.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One-size-fits-all advising fails to prioritize who needs support first.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Result: reactive remediation, higher dropout risk, and weaker retention outcomes.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Need: an early-warning intelligence system that predicts risk and recommends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Research Objectives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Design an AI-enabled platform for early academic and dropout risk prediction.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Deliver personalized, ranked intervention recommendations for faculty action.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Provide role-based dashboards for Faculty, Admin, Department Head, and Director.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Integrate multi-model ML services with graceful offline degradation.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Introduce conversational RAG advising grounded in student metrics and history.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Validate through a production-structured prototype with measurable model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4/25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Proposed Solution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PrognosEd — an integrated Student Success Intelligence Platform.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Ingests student engagement and academic metrics (attendance, GPA, LMS, late work).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Predicts risk via four independent ML microservices.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Surfaces prioritized alerts and intervention plans in role-scoped dashboards.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Supports decisions with a per-student RAG advising assistant.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Secured with JWT authentication, RBAC, rate limiting, and SMTP faculty onboarding.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5/25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Presentation Layer: React 19 SPA, role-based dashboards, RAG chat UI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Application Layer: Express REST API, JWT sessions, SQLite persistence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AI &amp; Analytics Layer: FastAPI ML services on ports 8000–8003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Knowledge Layer: TF-IDF retriever, advising playbook, chat memory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Design principle: modular services, clear APIs, resilient fallbacks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6/25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Frontend: React 19, Vite, Tailwind CSS 4, Recharts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Backend: Node.js, Express 4, better-sqlite3, bcrypt, JWT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ML Serving: FastAPI + uvicorn, scikit-learn / XGBoost pipelines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Advising AI: Node.js TF-IDF RAG retriever with intent-aware generation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Ops: Docker Compose support, GitHub Actions CI (lint, build, smoke tests)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Email: Nodemailer SMTP for invitations and password reset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7/25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AI Pipeline: From Student Metrics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Step 1 — Collect metrics: attendance, GPA, LMS activity, late assignments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Step 2 — Predict risk: academic early-warning + dropout probability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Step 3 — Rank interventions: skill gaps + risk-level action templates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Step 4 — Faculty action: dashboard alerts, accept/dismiss recommendations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Step 5 — Continuous advising: RAG chat with per-student conversation memory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Feedback loop: recommendation decisions refine operational prioritization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8/25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Model 1 — Academic Early-Warning Risk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Purpose: predict pass/fail risk early enough for meaningful intervention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Signals: LMS engagement (clicks, active days) and assessment performance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Evaluation design: 4-week early-warning window (not full-course leakage)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Key result: ROC-AUC ≈ 0.83 on OULAD early-warning setting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Explainability: SHAP confirms behavioral/academic drivers over demographics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Service endpoint: FastAPI on port 8000 (ML_ACADEMIC_API_URL)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9/25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Model 2 — Dropout Risk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Purpose: binary classification of Dropout vs Graduate outcomes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Features: enrollment, curricular units, financial/academic indicators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Dataset: UCI Higher Education Students Performance / Dropout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Key results: 94.1% accuracy; AUC 0.973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Validation: stratified 5-fold CV + held-out test reporting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Service endpoint: FastAPI on port 8001 (ML_DROPOUT_API_URL)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10/25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Model 3 — Skill-Based Intervention Recommender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Purpose: recommend skill-level interventions from mastery gaps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Approach: rank weak skill areas from tutoring / EDM mastery tables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Dataset lineage: KDD Cup 2010 Educational Data Mining challenge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Key result: Precision@5 = 100% on evaluated ranking setting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Integration: complements platform rule-based intervention templates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Service endpoint: FastAPI on port 8002 (ML_RECOMMENDER_API_URL)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11/25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Model 4 — Behavioral Learning Analytics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Purpose: unsupervised segmentation for institutional analytics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Method: k-means behavioral clustering (k = 4)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Key metric: Silhouette score ≈ 0.315 (moderate, exploratory separation)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Use case: cohort patterns for directors and academic administrators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Supports reporting beyond individual risk lists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Service endpoint: FastAPI on port 8003 (ML_ANALYTICS_API_URL)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12/25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Key Innovation: Retrieval-Augmented Advising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Per-student conversational assistant embedded in the student profile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Retrieves from an advising playbook using TF-IDF (Node.js, zero heavy deps)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Personalizes answers with live metrics: risk, attendance, GPA, LMS, late work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Stores short conversation memory per student–advisor pair in SQLite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Intent detection: outreach drafts, weekly plans, risk explanation, summaries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Anti-repetition controls rotate focus and avoid recycled playbook chunks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Role-Based Decision Support (Faculty → Leadership)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Faculty: course KPIs, at-risk roster, recommendations, RAG advisor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Department Head: department performance and faculty-aligned views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Academic Admin: institutional insights, user invites, course assignments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Director / Dean: university KPIs, department comparison, risk drill-down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Administrative Staff: reports and alerts for operational support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Access control enforced via JWT + role-scoped service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14/25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6E4F"/>
                </a:solidFill>
                <a:latin typeface="Calibri"/>
              </a:rPr>
              <a:t>Prototype Demonstration — Faculty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75467"/>
                </a:solidFill>
                <a:latin typeface="Calibri"/>
              </a:rPr>
              <a:t>Live UI: KPI cards, weekly engagement trend, and students needing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15/25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6E4F"/>
                </a:solidFill>
                <a:latin typeface="Calibri"/>
              </a:rPr>
              <a:t>Prototype Demonstration — Student Risk Profile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75467"/>
                </a:solidFill>
                <a:latin typeface="Calibri"/>
              </a:rPr>
              <a:t>Live UI: critical-risk profile, intervention plan, and personalized RAG advisor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16/25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Experimental Results and 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417320"/>
          </a:xfrm>
          <a:prstGeom prst="roundRect">
            <a:avLst/>
          </a:prstGeom>
          <a:solidFill>
            <a:srgbClr val="F2F7F5"/>
          </a:solidFill>
          <a:ln>
            <a:solidFill>
              <a:srgbClr val="E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6E4F"/>
                </a:solidFill>
                <a:latin typeface="Calibri"/>
              </a:rPr>
              <a:t>Model 1 · Academic Early-Warning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  <a:latin typeface="Calibri"/>
              </a:rPr>
              <a:t>ROC-AUC ≈ 0.83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467"/>
                </a:solidFill>
                <a:latin typeface="Calibri"/>
              </a:rPr>
              <a:t>4-week OULAD early-warning setting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03520" cy="1417320"/>
          </a:xfrm>
          <a:prstGeom prst="roundRect">
            <a:avLst/>
          </a:prstGeom>
          <a:solidFill>
            <a:srgbClr val="F2F7F5"/>
          </a:solidFill>
          <a:ln>
            <a:solidFill>
              <a:srgbClr val="E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6E4F"/>
                </a:solidFill>
                <a:latin typeface="Calibri"/>
              </a:rPr>
              <a:t>Model 2 · Dropout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099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  <a:latin typeface="Calibri"/>
              </a:rPr>
              <a:t>94.1% Acc  ·  AUC 0.973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467"/>
                </a:solidFill>
                <a:latin typeface="Calibri"/>
              </a:rPr>
              <a:t>UCI Dropout · stratified 5-fold 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03520" cy="1417320"/>
          </a:xfrm>
          <a:prstGeom prst="roundRect">
            <a:avLst/>
          </a:prstGeom>
          <a:solidFill>
            <a:srgbClr val="F2F7F5"/>
          </a:solidFill>
          <a:ln>
            <a:solidFill>
              <a:srgbClr val="E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6E4F"/>
                </a:solidFill>
                <a:latin typeface="Calibri"/>
              </a:rPr>
              <a:t>Model 3 · Skill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015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  <a:latin typeface="Calibri"/>
              </a:rPr>
              <a:t>Precision@5 =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467"/>
                </a:solidFill>
                <a:latin typeface="Calibri"/>
              </a:rPr>
              <a:t>KDD Cup 2010 mastery-gap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80"/>
            <a:ext cx="5303520" cy="1417320"/>
          </a:xfrm>
          <a:prstGeom prst="roundRect">
            <a:avLst/>
          </a:prstGeom>
          <a:solidFill>
            <a:srgbClr val="F2F7F5"/>
          </a:solidFill>
          <a:ln>
            <a:solidFill>
              <a:srgbClr val="E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906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6E4F"/>
                </a:solidFill>
                <a:latin typeface="Calibri"/>
              </a:rPr>
              <a:t>Model 4 · Behavioral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015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1828"/>
                </a:solidFill>
                <a:latin typeface="Calibri"/>
              </a:rPr>
              <a:t>Silhouette ≈ 0.315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86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467"/>
                </a:solidFill>
                <a:latin typeface="Calibri"/>
              </a:rPr>
              <a:t>k-means · k = 4 exploratory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Calibri"/>
              </a:rPr>
              <a:t>• Platform resilience: heuristic fallbacks when ML services are offline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Calibri"/>
              </a:rPr>
              <a:t>• Prototype coverage: dashboards, alerts, recommendations, reports, and RAG chat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17/25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Specification Compliance and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Faculty dashboard with at-risk prioritization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Risk alert system with role-scoped visibility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Recommendation engine (rules + ML skill diagnostics)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Institutional / class reporting analytics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Four ML microservices for prediction and analytics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✓ Extended deliverables: RAG chat, SMTP onboarding, RBAC hierarchy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18/25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Security, Scalability, and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Security: JWT sessions, bcrypt hashing, API rate limits, CORS controls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Privacy posture: role-scoped data access; demo accounts disabled in production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Deployment: npm production build, Express static hosting, Docker Compose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Ops readiness: health endpoints for API, ML services, and email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Scale path: SQLite for pilot → PostgreSQL for institutional concurrency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CI quality gates: lint, build, and smoke tests on push/PR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19/25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Limitations and Ethical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Some ML features are estimated from summary metrics (not raw LMS event streams).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RAG uses a curated playbook; not a full institutional policy corpus or LLM.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Clustering is exploratory; moderate silhouette implies interpretive caution.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Predictions must support—not replace—professional academic judgment.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Fairness vigilance: minimize reliance on sensitive demographic proxies.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Production use requires FERPA/GDPR-aligned governance and audit logging.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20/25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Impact and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Shifts advising from reactive remediation to proactive early warning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Unifies prediction, recommendation, and conversational guidance in one system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Provides leadership visibility from course level to institutional KPIs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Demonstrates modular, production-structured ML microservice integration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Introduces per-student RAG memory for continuity of advising context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Offers a deployable prototype pathway for university pilot programs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21/25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Future Work and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Live LMS/SIS ingestion (LTI, xAPI, or scheduled ETL pipelines)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Embedding-based retrieval + grounded LLM synthesis with citations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PostgreSQL migration, connection pooling, and horizontal scaling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Automated retraining, model versioning, and monitoring (e.g., MLflow)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Real-time alert digests and institutional workflow integrations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Expanded fairness audits, accessibility (WCAG), and longitudinal impact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22/25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PrognosEd operationalizes AI for early student-success intervention.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Four ML services cover academic risk, dropout, skills, and behavioral analytics.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RAG advising adds personalized, history-aware decision support for faculty.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Role-based dashboards connect course action to institutional strategy.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Strong prototype readiness with clear, evidence-based performance metrics.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Next step: pilot deployment with live institutional data partnerships.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Calibri"/>
              </a:rPr>
              <a:t>Acknowledgments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7432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Academic supervision and research guidance for the AI/ML internship track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Open datasets enabling reproducible model development</a:t>
            </a:r>
          </a:p>
          <a:p>
            <a:pPr lvl="1"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01828"/>
                </a:solidFill>
                <a:latin typeface="Calibri"/>
              </a:rPr>
              <a:t>OULAD · UCI Student Performance · UCI Dropout · KDD Cup 2010 EDM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Open-source ecosystem: React, Express, FastAPI, scikit-learn, and related tools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101828"/>
                </a:solidFill>
                <a:latin typeface="Calibri"/>
              </a:rPr>
              <a:t>Institutional stakeholders who inspired practical faculty advising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24/25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0B6E4F"/>
                </a:solidFill>
                <a:latin typeface="Calibri"/>
              </a:rPr>
              <a:t>Questions &amp; Discussion</a:t>
            </a:r>
          </a:p>
          <a:p>
            <a:pPr algn="ctr">
              <a:spcBef>
                <a:spcPts val="1800"/>
              </a:spcBef>
            </a:pPr>
            <a:r>
              <a:rPr sz="2200" b="0">
                <a:solidFill>
                  <a:srgbClr val="101828"/>
                </a:solidFill>
                <a:latin typeface="Calibri"/>
              </a:rPr>
              <a:t>Thank you for your attention</a:t>
            </a:r>
          </a:p>
          <a:p>
            <a:pPr algn="ctr">
              <a:spcBef>
                <a:spcPts val="1400"/>
              </a:spcBef>
            </a:pPr>
            <a:r>
              <a:rPr sz="1400" b="0">
                <a:solidFill>
                  <a:srgbClr val="475467"/>
                </a:solidFill>
                <a:latin typeface="Calibri"/>
              </a:rPr>
              <a:t>PrognosEd — AI-Powered Early-Warning Student Success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55080"/>
            <a:ext cx="11155680" cy="13716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Calibri"/>
              </a:rPr>
              <a:t>PrognosEd  ·  International Conference  ·  25/25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467"/>
                </a:solidFill>
                <a:latin typeface="Calibri"/>
              </a:rPr>
              <a:t>AI · Student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